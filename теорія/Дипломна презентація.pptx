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oppins" panose="020B0604020202020204" charset="0"/>
      <p:regular r:id="rId15"/>
      <p:bold r:id="rId16"/>
      <p:italic r:id="rId17"/>
      <p:boldItalic r:id="rId18"/>
    </p:embeddedFont>
    <p:embeddedFont>
      <p:font typeface="Poppins SemiBold" panose="020B060402020202020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Tahoma" panose="020B0604030504040204" pitchFamily="34" charset="0"/>
      <p:regular r:id="rId27"/>
      <p:bold r:id="rId28"/>
    </p:embeddedFont>
    <p:embeddedFont>
      <p:font typeface="Inter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64" autoAdjust="0"/>
  </p:normalViewPr>
  <p:slideViewPr>
    <p:cSldViewPr snapToGrid="0">
      <p:cViewPr varScale="1">
        <p:scale>
          <a:sx n="75" d="100"/>
          <a:sy n="75" d="100"/>
        </p:scale>
        <p:origin x="5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5.png"/><Relationship Id="rId4" Type="http://schemas.openxmlformats.org/officeDocument/2006/relationships/image" Target="../media/image23.png"/><Relationship Id="rId9" Type="http://schemas.openxmlformats.org/officeDocument/2006/relationships/image" Target="../media/image2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5250" y="4541323"/>
            <a:ext cx="558165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933900" y="2318278"/>
            <a:ext cx="43243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b="1" dirty="0" smtClean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Inter"/>
              </a:rPr>
              <a:t>КЗ ЛОР </a:t>
            </a:r>
            <a:r>
              <a:rPr lang="en-US" b="1" dirty="0" smtClean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Inter"/>
              </a:rPr>
              <a:t>“</a:t>
            </a:r>
            <a:r>
              <a:rPr lang="uk-UA" b="1" dirty="0" smtClean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Inter"/>
              </a:rPr>
              <a:t>Шептицький професійний коледж технологій та дизайну</a:t>
            </a:r>
            <a:r>
              <a:rPr lang="en-US" b="1" dirty="0" smtClean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Inter"/>
              </a:rPr>
              <a:t>”</a:t>
            </a:r>
            <a:endParaRPr dirty="0">
              <a:solidFill>
                <a:schemeClr val="bg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482064" y="2708803"/>
            <a:ext cx="9227872" cy="72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0F0FF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АРХІТЕКТУРА ООП ТА ТЕОРІЯ МОВ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667075" y="3750748"/>
            <a:ext cx="685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Розробка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апаратно-незалежного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застосунку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«DynamicWallpaper2»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305250" y="4836598"/>
            <a:ext cx="24860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Виконавець</a:t>
            </a:r>
            <a:r>
              <a:rPr lang="en-US" sz="1200" b="1" i="0" u="none" strike="noStrike" cap="none" dirty="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uk-UA" sz="1200" b="0" i="0" u="none" strike="noStrike" cap="none" dirty="0" err="1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Фурдин</a:t>
            </a:r>
            <a:r>
              <a:rPr lang="uk-UA" sz="1200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Павло</a:t>
            </a:r>
            <a:r>
              <a:rPr lang="en-US" sz="1200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uk-UA" sz="1200" b="0" i="0" u="none" strike="noStrike" cap="none" dirty="0" err="1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Богдонович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6267525" y="4836598"/>
            <a:ext cx="2619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Керівник</a:t>
            </a:r>
            <a:r>
              <a:rPr lang="en-US" sz="1200" b="1" i="0" u="none" strike="noStrike" cap="none" dirty="0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uk-UA" sz="1200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Олійник Віталій Михайлович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19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6648"/>
            <a:ext cx="5334000" cy="2685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76648"/>
            <a:ext cx="5334000" cy="268575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14400" y="2941439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Актуальність роботи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3570089"/>
            <a:ext cx="46482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Сучасне програмне забезпечення стає дедалі складнішим. Використання ООП та теорії мов дає змогу ефективно керувати цією складністю, будувати гнучку архітектуру та забезпечувати надійний супровід великих систем.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29400" y="2819548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Мета дослідження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29400" y="3448198"/>
            <a:ext cx="4648200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Дослідити ключові аспекти архітектури об'єктно-орієнтованого програмування. Практично розробити апаратно-незалежний Windows-застосунок «DynamicWallpaper2» для відображення інтерактивних динамічних шпалер.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АКТУАЛЬНІСТЬ ТА МЕТА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2175"/>
            <a:ext cx="53340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90850"/>
            <a:ext cx="53340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9525"/>
            <a:ext cx="53340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48200"/>
            <a:ext cx="53340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097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23900" y="2419350"/>
            <a:ext cx="419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1967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1238250" y="2419350"/>
            <a:ext cx="19050" cy="2000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533525" y="2332732"/>
            <a:ext cx="43624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Simula 67: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Перші класи, об'єкти та спадкування для моделювання складних фізичних систем.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23900" y="3248025"/>
            <a:ext cx="4381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1980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1257300" y="3248025"/>
            <a:ext cx="19050" cy="2000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533525" y="3161407"/>
            <a:ext cx="43624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C++ </a:t>
            </a:r>
            <a:r>
              <a:rPr lang="en-US" sz="10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0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Мейнстрім</a:t>
            </a:r>
            <a:r>
              <a:rPr lang="en-US" sz="105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Поєднання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швидкості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мови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С з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концепціями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класів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глобального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системного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софту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723900" y="4076700"/>
            <a:ext cx="428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1995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1247775" y="4076700"/>
            <a:ext cx="19050" cy="2000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533525" y="3990082"/>
            <a:ext cx="43624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Java та C#: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Безпечна робота з пам'яттю, віртуальна машина, ООП як непохитний промисловий стандарт.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23900" y="4905375"/>
            <a:ext cx="5810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2000+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1400175" y="4905375"/>
            <a:ext cx="19050" cy="2000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533525" y="4818757"/>
            <a:ext cx="436245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Python та Сучасність: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Неймовірна гнучкість, лаконічність та динамічний об'єктно-орієнтований підхід.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6025" y="201930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ЕВОЛЮЦІЯ ООП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3650"/>
            <a:ext cx="26193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5" y="2533650"/>
            <a:ext cx="26193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533650"/>
            <a:ext cx="26193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1125" y="2533650"/>
            <a:ext cx="2619375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1330806" y="3409950"/>
            <a:ext cx="11007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Абстракція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71525" y="3810000"/>
            <a:ext cx="221932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Виділення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головних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характеристик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об'єкта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що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відкидає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несуттєві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деталі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реалізації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зменшення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складності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4057237" y="3409950"/>
            <a:ext cx="126750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Інкапсуляція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3581400" y="3810000"/>
            <a:ext cx="22193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Приховування внутрішніх деталей реалізації об'єкта та захист його стану від прямого неконтрольованого доступу.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848512" y="3409950"/>
            <a:ext cx="1304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Спадкування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391275" y="3810000"/>
            <a:ext cx="22193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Механізм створення нового класу на основі вже існуючого, успадковуючи та розширюючи його функціональність.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657605" y="3409950"/>
            <a:ext cx="130641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Поліморфізм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201150" y="3810000"/>
            <a:ext cx="221932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Здатність об'єктів різних класів з однаковим інтерфейсом виконувати дії по-своєму, за рахунок динамічного зв'язування.</a:t>
            </a:r>
            <a:endParaRPr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00212" y="286702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33900" y="2867025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96150" y="2867025"/>
            <a:ext cx="4095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06025" y="2867025"/>
            <a:ext cx="4095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4 СТОВПИ ООП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1000125" y="2657623"/>
            <a:ext cx="10620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 - Single Responsibility: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Клас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повинен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виконувати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єдину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чітку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функцію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мінімізуючи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зв'язність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коду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1000124" y="3187154"/>
            <a:ext cx="1081849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 - Open/Closed (OCP):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Класи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uk-UA" sz="1200" b="0" i="0" u="none" strike="noStrike" cap="none" noProof="1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відкриті</a:t>
            </a:r>
            <a:r>
              <a:rPr lang="en-US" sz="1200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розширення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але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закриті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змін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20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200" b="0" i="1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Використано</a:t>
            </a:r>
            <a:r>
              <a:rPr lang="en-US" sz="120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для</a:t>
            </a:r>
            <a:r>
              <a:rPr lang="en-US" sz="120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системи</a:t>
            </a:r>
            <a:r>
              <a:rPr lang="en-US" sz="120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плагінів</a:t>
            </a:r>
            <a:r>
              <a:rPr lang="en-US" sz="120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шпалер</a:t>
            </a:r>
            <a:r>
              <a:rPr lang="en-US" sz="120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у </a:t>
            </a:r>
            <a:r>
              <a:rPr lang="uk-UA" sz="1200" b="0" i="1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моєму</a:t>
            </a:r>
            <a:r>
              <a:rPr lang="en-US" sz="1200" b="0" i="1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1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проекті</a:t>
            </a:r>
            <a:r>
              <a:rPr lang="en-US" sz="1200" b="0" i="1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1000125" y="3735734"/>
            <a:ext cx="10620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 - </a:t>
            </a:r>
            <a:r>
              <a:rPr lang="en-US" sz="1200" b="1" i="0" u="none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Liskov</a:t>
            </a:r>
            <a:r>
              <a:rPr lang="en-US" sz="12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Substitution: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Об'єкти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базового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класу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мають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безперешкодно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замінюватися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об'єктами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класів-нащадків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1000125" y="4150965"/>
            <a:ext cx="1062037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b="1" i="0" u="none" strike="noStrike" cap="none" dirty="0" smtClean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 - </a:t>
            </a:r>
            <a:r>
              <a:rPr lang="uk-UA" sz="1200" b="1" i="0" u="none" strike="noStrike" cap="none" dirty="0" err="1" smtClean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Interface</a:t>
            </a:r>
            <a:r>
              <a:rPr lang="uk-UA" sz="1200" b="1" i="0" u="none" strike="noStrike" cap="none" dirty="0" smtClean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uk-UA" sz="1200" b="1" i="0" u="none" strike="noStrike" cap="none" dirty="0" err="1" smtClean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Segregation</a:t>
            </a:r>
            <a:r>
              <a:rPr lang="uk-UA" sz="1200" b="1" i="0" u="none" strike="noStrike" cap="none" dirty="0" smtClean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uk-UA" sz="1200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Багато спеціалізованих інтерфейсів краще за один універсальний.</a:t>
            </a:r>
            <a:endParaRPr lang="uk-UA"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1000125" y="4566195"/>
            <a:ext cx="10620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 - Dependency Inversion: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Високорівневі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модулі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повинні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залежати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від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абстракцій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а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не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від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конкретних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реалізацій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9" name="Google Shape;169;p17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ПРИНЦИПИ SOLID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98539"/>
            <a:ext cx="5334000" cy="2441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98539"/>
            <a:ext cx="5334000" cy="244197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914400" y="2941439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Компіляція (AOT)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14400" y="3570089"/>
            <a:ext cx="46482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Вихідний код повністю перетворюється на машинні інструкції перед запуском. Забезпечує максимально високу швидкість виконання та прямий доступ до апаратних ресурсів, але вимагає збірки під кожну платформу.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629400" y="2941439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Інтерпретація та JIT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629400" y="3570089"/>
            <a:ext cx="46482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Код виконується віртуальною машиною рядок за рядком (як у Python). Це надає кросплатформеність та динамічну гнучкість. JIT-компіляція об'єднує обидва підходи, компілюючи гарячі ділянки коду "на льоту".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ВИКОНАННЯ КОДУ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9508"/>
            <a:ext cx="5334000" cy="89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99519"/>
            <a:ext cx="5334000" cy="89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39530"/>
            <a:ext cx="5334000" cy="89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99200" y="2259508"/>
            <a:ext cx="5283200" cy="322689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790575" y="2402383"/>
            <a:ext cx="49244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Мова програмування: Python (100%)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790575" y="2640508"/>
            <a:ext cx="49244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Обрано за високу швидкість розробки та потужну екосистему для роботи з низькорівневими C-бібліотеками.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790575" y="3442394"/>
            <a:ext cx="49244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GUI каркас: PySide6 (Qt6)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90575" y="3680519"/>
            <a:ext cx="49244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Надає повний набір інструментів для створення високопродуктивного та сучасного графічного інтерфейсу користувача.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90575" y="4482405"/>
            <a:ext cx="49244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Графічний рушій: PyOpenGL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790575" y="4720530"/>
            <a:ext cx="49244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Використовує апаратне прискорення відеокарти для плавного рендерингу складних шпалер та шейдерних ефектів.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СТЕК ПРОЕКТУ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090" y="2497633"/>
            <a:ext cx="4976762" cy="28042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714375" y="571500"/>
            <a:ext cx="545068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ТЕХНОЛОГІЯ WORKERW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71500" y="2359521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Низькорівневий API Windows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571500" y="3054846"/>
            <a:ext cx="5334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Для рендерингу під іконками робочого столу Windows використовується Win32 API.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571500" y="3837682"/>
            <a:ext cx="533400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 допомогою системного повідомлення 0x052C до вікна Progman ініціюється створення вікна WorkerW.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71500" y="4639567"/>
            <a:ext cx="5334000" cy="497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Через функції FindWindowEx та SetParent вікно PySide6 монтується у створений шар, забезпечуючи надійну роботу живих шпалер.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114425"/>
            <a:ext cx="5851071" cy="5229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9508"/>
            <a:ext cx="5334000" cy="89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99519"/>
            <a:ext cx="5334000" cy="89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339530"/>
            <a:ext cx="5334000" cy="897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20097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790575" y="2402383"/>
            <a:ext cx="49244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Аналіз звуку: PyAudio FFT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790575" y="2640508"/>
            <a:ext cx="49244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Перетворення аудіосигналу в спектр частот у реальному часі для створення реактивних візуальних ефектів шпалер.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790575" y="3442394"/>
            <a:ext cx="49244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Візуальні ефекти: OpenGL GLSL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90575" y="3680519"/>
            <a:ext cx="49244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Шейдерна графіка виконується безпосередньо на GPU, повністю розвантажуючи центральний процесор комп'ютера.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90575" y="4482405"/>
            <a:ext cx="49244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Збереження ресурсів: Graceful Degradation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90575" y="4720530"/>
            <a:ext cx="4924425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Інтелектуальне зниження FPS або деталізації на слабких iGPU (Intel) задля досягнення високої енергоефективності пристрою.</a:t>
            </a:r>
            <a:endParaRPr/>
          </a:p>
        </p:txBody>
      </p:sp>
      <p:pic>
        <p:nvPicPr>
          <p:cNvPr id="229" name="Google Shape;22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96025" y="201930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ОПТИМІЗАЦІЯ ТА МЕДІА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93776"/>
            <a:ext cx="5334000" cy="2451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93776"/>
            <a:ext cx="5334000" cy="245149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914400" y="2936676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Багатопотоковість QThread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914400" y="3565326"/>
            <a:ext cx="4648200" cy="984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Щоб уникнути найменшого замерзання графічного інтерфейсу (UI) під час важких обчислень аудіо-FFT або OpenGL рендерингу, вся фонова логіка повністю перенесена в окремий потік за допомогою механізму QThread.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629400" y="2941439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Система Hot-Reload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629400" y="3570089"/>
            <a:ext cx="46482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Реалізовано модуль динамічного перезавантаження ресурсів. Він миттєво відстежує збереження файлів GLSL-шейдерів чи скриптів ефектів, та автоматично оновлює їх без перезапуску застосунку.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ПОТОКИ ТА HOT-RELOAD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33637"/>
            <a:ext cx="5334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57562"/>
            <a:ext cx="5334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81487"/>
            <a:ext cx="5334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61943" y="1960152"/>
            <a:ext cx="3338286" cy="372944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1152525" y="2450901"/>
            <a:ext cx="4743450" cy="775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Правильна ергономіка: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Оптимальна відстань до монітора (50-70 см). Дотримання правила "20-20-20" (кожні 20 хв дивитись 20 сек вдалину) для збереження зору.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1152525" y="3468141"/>
            <a:ext cx="4743450" cy="58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Техніка</a:t>
            </a:r>
            <a:r>
              <a:rPr lang="en-US" sz="1050" b="1" i="0" u="none" strike="noStrike" cap="none" dirty="0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i="0" u="none" strike="noStrike" cap="none" dirty="0" err="1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електробезпеки</a:t>
            </a:r>
            <a:r>
              <a:rPr lang="en-US" sz="1050" b="1" i="0" u="none" strike="noStrike" cap="none" dirty="0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Перевірка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цілісності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дротів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блоків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живлення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розеток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перед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запуском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ПК.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Уникати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потрапляння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вологи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силові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кабелі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56" name="Google Shape;256;p23"/>
          <p:cNvSpPr txBox="1"/>
          <p:nvPr/>
        </p:nvSpPr>
        <p:spPr>
          <a:xfrm>
            <a:off x="1152525" y="4298751"/>
            <a:ext cx="4743450" cy="775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0F0FF"/>
                </a:solidFill>
                <a:latin typeface="Inter"/>
                <a:ea typeface="Inter"/>
                <a:cs typeface="Inter"/>
                <a:sym typeface="Inter"/>
              </a:rPr>
              <a:t>Перша допомога (СЛР):</a:t>
            </a: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Володіння критично важливим алгоритмом серцево-легеневої реанімації (30 компресій грудної клітки на 2 вдихи) при екстрених випадках.</a:t>
            </a:r>
            <a:endParaRPr/>
          </a:p>
        </p:txBody>
      </p:sp>
      <p:pic>
        <p:nvPicPr>
          <p:cNvPr id="258" name="Google Shape;25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271938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3900" y="36433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3900" y="45672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ОХОРОНА ПРАЦІ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471" y="2059397"/>
            <a:ext cx="3052836" cy="35202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9775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097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7703972" y="3072705"/>
            <a:ext cx="249890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Дякую</a:t>
            </a:r>
            <a:r>
              <a:rPr lang="en-US" sz="2400" b="0" i="0" u="none" strike="noStrike" cap="none" dirty="0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400" b="0" i="0" u="none" strike="noStrike" cap="none" dirty="0" err="1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за</a:t>
            </a:r>
            <a:r>
              <a:rPr lang="en-US" sz="2400" b="0" i="0" u="none" strike="noStrike" cap="none" dirty="0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400" b="0" i="0" u="none" strike="noStrike" cap="none" dirty="0" err="1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увагу</a:t>
            </a:r>
            <a:r>
              <a:rPr lang="en-US" sz="2400" b="0" i="0" u="none" strike="noStrike" cap="none" dirty="0">
                <a:solidFill>
                  <a:srgbClr val="00F0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!</a:t>
            </a:r>
            <a:endParaRPr dirty="0"/>
          </a:p>
        </p:txBody>
      </p:sp>
      <p:sp>
        <p:nvSpPr>
          <p:cNvPr id="271" name="Google Shape;271;p24"/>
          <p:cNvSpPr txBox="1"/>
          <p:nvPr/>
        </p:nvSpPr>
        <p:spPr>
          <a:xfrm>
            <a:off x="7729537" y="3844230"/>
            <a:ext cx="2447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Бажаєте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поставити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питання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dirty="0"/>
          </a:p>
        </p:txBody>
      </p:sp>
      <p:pic>
        <p:nvPicPr>
          <p:cNvPr id="273" name="Google Shape;27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014662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63378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252912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714375" y="571500"/>
            <a:ext cx="1145143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ВИСНОВКИ ТА РЕЗУЛЬТАТИ</a:t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6;p13"/>
          <p:cNvSpPr txBox="1"/>
          <p:nvPr/>
        </p:nvSpPr>
        <p:spPr>
          <a:xfrm>
            <a:off x="6952797" y="4798426"/>
            <a:ext cx="43243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b="1" dirty="0" smtClean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Inter"/>
              </a:rPr>
              <a:t>КЗ ЛОР </a:t>
            </a:r>
            <a:r>
              <a:rPr lang="en-US" b="1" dirty="0" smtClean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Inter"/>
              </a:rPr>
              <a:t>“</a:t>
            </a:r>
            <a:r>
              <a:rPr lang="uk-UA" b="1" dirty="0" smtClean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Inter"/>
              </a:rPr>
              <a:t>Шептицький професійний коледж технологій та дизайну</a:t>
            </a:r>
            <a:r>
              <a:rPr lang="en-US" b="1" dirty="0" smtClean="0">
                <a:solidFill>
                  <a:schemeClr val="bg1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Inter"/>
              </a:rPr>
              <a:t>”</a:t>
            </a:r>
            <a:endParaRPr dirty="0">
              <a:solidFill>
                <a:schemeClr val="bg1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712</Words>
  <Application>Microsoft Office PowerPoint</Application>
  <PresentationFormat>Широкоэкранный</PresentationFormat>
  <Paragraphs>71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Poppins</vt:lpstr>
      <vt:lpstr>Poppins SemiBold</vt:lpstr>
      <vt:lpstr>Arial</vt:lpstr>
      <vt:lpstr>Times New Roman</vt:lpstr>
      <vt:lpstr>Calibri</vt:lpstr>
      <vt:lpstr>Tahoma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temaune</dc:creator>
  <cp:lastModifiedBy>temaune</cp:lastModifiedBy>
  <cp:revision>4</cp:revision>
  <dcterms:modified xsi:type="dcterms:W3CDTF">2026-06-05T07:16:47Z</dcterms:modified>
</cp:coreProperties>
</file>